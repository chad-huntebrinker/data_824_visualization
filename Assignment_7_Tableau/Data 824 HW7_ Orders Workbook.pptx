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6993" autoAdjust="0"/>
    <p:restoredTop sz="94660"/>
  </p:normalViewPr>
  <p:slideViewPr>
    <p:cSldViewPr snapToGrid="0">
      <p:cViewPr varScale="1">
        <p:scale>
          <a:sx n="82" d="100"/>
          <a:sy n="82" d="100"/>
        </p:scale>
        <p:origin x="629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0D1A6E6-075E-4828-AF88-09BD0A74259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F3800DB-487B-4E23-AC0B-90C9ED4E107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64DF5B1-3694-42A9-866E-9F1FF6CF0C0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D1C14C-A143-42F5-B247-D0E800131009}" type="datetimeFigureOut">
              <a:rPr lang="en-US" smtClean="0"/>
              <a:t>10/15/2025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4718E67-8162-4BE0-9B01-22B89A120AD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1568B9D-A8C9-40C5-85B0-14F435F39C8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03D32D-F1BC-4E9C-97E1-36CFF5B223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9673836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B34D5D7-9AEB-44F2-8A04-0694BE1520D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3CE933F-693D-4770-8DC4-A5A086AC8AC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2A7849A-1CE6-4F5C-95D7-EA8DA5EE555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D1C14C-A143-42F5-B247-D0E800131009}" type="datetimeFigureOut">
              <a:rPr lang="en-US" smtClean="0"/>
              <a:t>10/15/2025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9FE1FD0-B95E-4CF6-9A27-0F91F96DAE0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96123BE-5891-49D6-A758-867A98F38D7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03D32D-F1BC-4E9C-97E1-36CFF5B223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5972261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BA85FC7-1BEA-438E-A0A7-88FF5511227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BD5F5C0-417B-4A28-8AE9-A79AC74A625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4BC6257-C490-4059-9E97-16E46673C65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D1C14C-A143-42F5-B247-D0E800131009}" type="datetimeFigureOut">
              <a:rPr lang="en-US" smtClean="0"/>
              <a:t>10/15/2025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A4051CD-74EC-43C1-9F21-D33BD297FC2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BC95141-29DC-41BA-BE25-E899055F31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03D32D-F1BC-4E9C-97E1-36CFF5B223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9453237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134FC21-AE04-4050-80E6-D9DCA4B50C9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1885F7E-EF45-48F7-9E54-C6806D0E963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724501F-6ED5-4112-B037-D3E9F8CF2C8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861E48C-176E-4E60-8CB3-5425169963C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D1C14C-A143-42F5-B247-D0E800131009}" type="datetimeFigureOut">
              <a:rPr lang="en-US" smtClean="0"/>
              <a:t>10/15/2025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852202B-C929-4B39-AF47-D17C38F868E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DEEEBF3-930A-4A23-810D-C1880E7A6D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03D32D-F1BC-4E9C-97E1-36CFF5B223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2338459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0448E08-A828-430D-B8A6-7302E570AD2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1FF5402-465C-4E68-BF7E-BFE1177B55A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69B917D-5EC9-44FC-B8A7-9ADF4ADC4FA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43DCF5D4-E55C-42FF-A7E5-2466DE35B8C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B7579A7F-77F4-4169-8D51-212344199842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2A735923-3BB5-4F33-8E76-56665E95B55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D1C14C-A143-42F5-B247-D0E800131009}" type="datetimeFigureOut">
              <a:rPr lang="en-US" smtClean="0"/>
              <a:t>10/15/2025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FA43FC79-7089-4373-88DC-12501E78201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B4E0BEB1-B009-47B7-B159-DE05E615E71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03D32D-F1BC-4E9C-97E1-36CFF5B223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1972658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165FFCC-78CC-4E9D-A277-8230F27334A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744CEFE7-D923-48C1-B2FE-8110829C69E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D1C14C-A143-42F5-B247-D0E800131009}" type="datetimeFigureOut">
              <a:rPr lang="en-US" smtClean="0"/>
              <a:t>10/15/2025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68F91C9-7841-4F7B-8F24-B5FF45B5B39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8896739-CF17-4867-A5ED-317AD19F5A3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03D32D-F1BC-4E9C-97E1-36CFF5B223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5311432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94E8942B-5ECF-4556-91C2-496E4C52EF8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D1C14C-A143-42F5-B247-D0E800131009}" type="datetimeFigureOut">
              <a:rPr lang="en-US" smtClean="0"/>
              <a:t>10/15/2025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3E1589EF-E9AD-45F7-BFBE-6F8AD357033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E18E0FA-5424-403C-8462-1B7C301C65D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03D32D-F1BC-4E9C-97E1-36CFF5B223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4624045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AB27A56-C315-441C-9002-DFD599AED26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9F57D9A-8037-4B31-951B-4675ADA6939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763141B-5121-4179-B3F6-52956912224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A60C32E-3427-4696-A55A-56886EA24AE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D1C14C-A143-42F5-B247-D0E800131009}" type="datetimeFigureOut">
              <a:rPr lang="en-US" smtClean="0"/>
              <a:t>10/15/2025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DDFE526-7D20-4EC0-9624-E779812957B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7AA82D7-E462-4060-85D6-85CF555401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03D32D-F1BC-4E9C-97E1-36CFF5B223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3030519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E5E919B-BF68-4590-8CA9-A51BAC0F75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A04BC1AA-5C68-47DC-BBF0-1E309865E5AF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F81A636-7F9C-43EC-B2F2-6FB3323CB79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D19410E-A050-4AA2-BC89-EF52EB1C34F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D1C14C-A143-42F5-B247-D0E800131009}" type="datetimeFigureOut">
              <a:rPr lang="en-US" smtClean="0"/>
              <a:t>10/15/2025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0C23AB0-18A5-4589-926D-C00F68CFEA4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754EE52-EECA-4C6E-83E9-6382044D35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03D32D-F1BC-4E9C-97E1-36CFF5B223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0968884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A6536FE-B6CA-4D45-A719-6B51F3FF6D9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FB9388C-63B0-4DA8-97D0-BEEDCF401CA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ED9BDB0-2A2B-43AC-965A-A9E7E7F741C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D1C14C-A143-42F5-B247-D0E800131009}" type="datetimeFigureOut">
              <a:rPr lang="en-US" smtClean="0"/>
              <a:t>10/15/2025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67DA7C3-2A5B-4BED-A540-9136486CC5B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35888E8-31D6-4E51-9228-0D6066FED5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03D32D-F1BC-4E9C-97E1-36CFF5B223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116067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E3D010CA-6776-433E-8E25-97899E08288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6391E6E-3CF5-4535-B37E-E30058EA284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A6ADEE3-AAA7-4846-8EC6-84B1537C1D7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D1C14C-A143-42F5-B247-D0E800131009}" type="datetimeFigureOut">
              <a:rPr lang="en-US" smtClean="0"/>
              <a:t>10/15/2025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01DABD6-6E60-4895-89B1-3604A484D2D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9A4D314-6D1C-4A42-A445-B77646B2B29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03D32D-F1BC-4E9C-97E1-36CFF5B223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9552675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BC3F6010-77C4-45FE-968C-712199A5851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19B1B2C-5D5F-46D9-92F5-ECDF2816A1F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0334894-C6F5-46F1-BAA2-AFEA88E6816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ED1C14C-A143-42F5-B247-D0E800131009}" type="datetimeFigureOut">
              <a:rPr lang="en-US" smtClean="0"/>
              <a:t>10/15/2025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75B1C84-4663-4022-BBEA-7667FEBCF3F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72820DA-1F3A-421F-A770-A6347089E36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03D32D-F1BC-4E9C-97E1-36CFF5B223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0485201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hyperlink" Target="https://public.tableau.com/views/Data824HW7OrdersWorkbook_17605711062150/OrdersByDateProfit" TargetMode="Externa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1">
            <a:extLst>
              <a:ext uri="{FF2B5EF4-FFF2-40B4-BE49-F238E27FC236}">
                <a16:creationId xmlns:a16="http://schemas.microsoft.com/office/drawing/2014/main" id="{FC460650-F17F-489B-A4CF-43A0C5F6AF2D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>
                <a:hlinkClick r:id="rId2"/>
              </a:rPr>
              <a:t>Data 824 HW7: Orders Workbook</a:t>
            </a:r>
          </a:p>
        </p:txBody>
      </p:sp>
      <p:sp>
        <p:nvSpPr>
          <p:cNvPr id="3" name="slide1">
            <a:extLst>
              <a:ext uri="{FF2B5EF4-FFF2-40B4-BE49-F238E27FC236}">
                <a16:creationId xmlns:a16="http://schemas.microsoft.com/office/drawing/2014/main" id="{7A62C072-0DF9-4459-933F-DF0801C1BFFF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Chad Huntebrinker, created on 10/15/2025</a:t>
            </a:r>
          </a:p>
        </p:txBody>
      </p:sp>
    </p:spTree>
    <p:extLst>
      <p:ext uri="{BB962C8B-B14F-4D97-AF65-F5344CB8AC3E}">
        <p14:creationId xmlns:p14="http://schemas.microsoft.com/office/powerpoint/2010/main" val="9599258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slide2" descr="Orders By Date Profit">
            <a:extLst>
              <a:ext uri="{FF2B5EF4-FFF2-40B4-BE49-F238E27FC236}">
                <a16:creationId xmlns:a16="http://schemas.microsoft.com/office/drawing/2014/main" id="{6CD2911A-F040-4A69-8E8D-AC39A6E6F85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915116"/>
            <a:ext cx="12192000" cy="5027767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9C7848E3-C375-A106-9DBF-7A51EBC7451E}"/>
              </a:ext>
            </a:extLst>
          </p:cNvPr>
          <p:cNvSpPr txBox="1"/>
          <p:nvPr/>
        </p:nvSpPr>
        <p:spPr>
          <a:xfrm>
            <a:off x="2393301" y="576562"/>
            <a:ext cx="8346233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/>
              <a:t>We see that all of the sub-categories tend to go up with time, except for tables</a:t>
            </a:r>
          </a:p>
        </p:txBody>
      </p:sp>
    </p:spTree>
    <p:extLst>
      <p:ext uri="{BB962C8B-B14F-4D97-AF65-F5344CB8AC3E}">
        <p14:creationId xmlns:p14="http://schemas.microsoft.com/office/powerpoint/2010/main" val="9599258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slide3" descr="Market &amp;amp; Region Profit Share">
            <a:extLst>
              <a:ext uri="{FF2B5EF4-FFF2-40B4-BE49-F238E27FC236}">
                <a16:creationId xmlns:a16="http://schemas.microsoft.com/office/drawing/2014/main" id="{DF80FCB0-B146-415F-8AA2-3D446BE5EE5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743200" y="586740"/>
            <a:ext cx="6705600" cy="5684520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B92BA636-AE85-336F-E449-8FB3E561F4ED}"/>
              </a:ext>
            </a:extLst>
          </p:cNvPr>
          <p:cNvSpPr txBox="1"/>
          <p:nvPr/>
        </p:nvSpPr>
        <p:spPr>
          <a:xfrm>
            <a:off x="8103636" y="2607906"/>
            <a:ext cx="3970175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Tx/>
              <a:buChar char="-"/>
            </a:pPr>
            <a:r>
              <a:rPr lang="en-US" dirty="0"/>
              <a:t>EU and APAC have the biggest profit share</a:t>
            </a:r>
          </a:p>
          <a:p>
            <a:pPr marL="285750" indent="-285750">
              <a:buFontTx/>
              <a:buChar char="-"/>
            </a:pPr>
            <a:r>
              <a:rPr lang="en-US" dirty="0"/>
              <a:t>Canada has the smallest</a:t>
            </a:r>
          </a:p>
        </p:txBody>
      </p:sp>
    </p:spTree>
    <p:extLst>
      <p:ext uri="{BB962C8B-B14F-4D97-AF65-F5344CB8AC3E}">
        <p14:creationId xmlns:p14="http://schemas.microsoft.com/office/powerpoint/2010/main" val="9599258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slide4" descr="Market &amp;amp; Region Profit Threshold">
            <a:extLst>
              <a:ext uri="{FF2B5EF4-FFF2-40B4-BE49-F238E27FC236}">
                <a16:creationId xmlns:a16="http://schemas.microsoft.com/office/drawing/2014/main" id="{AF4309C8-673C-4548-B3C9-FC5BCBA2814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405976"/>
            <a:ext cx="10767527" cy="4046047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B9820154-D1B8-54DC-FE7A-51F12E9EB8CC}"/>
              </a:ext>
            </a:extLst>
          </p:cNvPr>
          <p:cNvSpPr txBox="1"/>
          <p:nvPr/>
        </p:nvSpPr>
        <p:spPr>
          <a:xfrm>
            <a:off x="9722498" y="2327987"/>
            <a:ext cx="2323322" cy="224676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Tx/>
              <a:buChar char="-"/>
            </a:pPr>
            <a:r>
              <a:rPr lang="en-US" sz="1400" dirty="0"/>
              <a:t>Check to see what Market and Regions have Profits over $100,000</a:t>
            </a:r>
          </a:p>
          <a:p>
            <a:pPr marL="285750" indent="-285750">
              <a:buFontTx/>
              <a:buChar char="-"/>
            </a:pPr>
            <a:r>
              <a:rPr lang="en-US" sz="1400" dirty="0"/>
              <a:t>APAC -  Central Asia</a:t>
            </a:r>
          </a:p>
          <a:p>
            <a:pPr marL="285750" indent="-285750">
              <a:buFontTx/>
              <a:buChar char="-"/>
            </a:pPr>
            <a:r>
              <a:rPr lang="en-US" sz="1400" dirty="0"/>
              <a:t>APAC -  North Asia</a:t>
            </a:r>
          </a:p>
          <a:p>
            <a:pPr marL="285750" indent="-285750">
              <a:buFontTx/>
              <a:buChar char="-"/>
            </a:pPr>
            <a:r>
              <a:rPr lang="en-US" sz="1400" dirty="0"/>
              <a:t>APAC – Oceania</a:t>
            </a:r>
          </a:p>
          <a:p>
            <a:pPr marL="285750" indent="-285750">
              <a:buFontTx/>
              <a:buChar char="-"/>
            </a:pPr>
            <a:r>
              <a:rPr lang="en-US" sz="1400" dirty="0"/>
              <a:t>EU – Central</a:t>
            </a:r>
          </a:p>
          <a:p>
            <a:pPr marL="285750" indent="-285750">
              <a:buFontTx/>
              <a:buChar char="-"/>
            </a:pPr>
            <a:r>
              <a:rPr lang="en-US" sz="1400" dirty="0"/>
              <a:t>LATAM – North</a:t>
            </a:r>
          </a:p>
          <a:p>
            <a:pPr marL="285750" indent="-285750">
              <a:buFontTx/>
              <a:buChar char="-"/>
            </a:pPr>
            <a:r>
              <a:rPr lang="en-US" sz="1400" dirty="0"/>
              <a:t>US – West</a:t>
            </a:r>
          </a:p>
          <a:p>
            <a:pPr marL="285750" indent="-285750">
              <a:buFontTx/>
              <a:buChar char="-"/>
            </a:pPr>
            <a:endParaRPr lang="en-US" sz="1400" dirty="0"/>
          </a:p>
        </p:txBody>
      </p:sp>
    </p:spTree>
    <p:extLst>
      <p:ext uri="{BB962C8B-B14F-4D97-AF65-F5344CB8AC3E}">
        <p14:creationId xmlns:p14="http://schemas.microsoft.com/office/powerpoint/2010/main" val="9599258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slide5" descr="Market &amp;amp; Region Discount Threshold">
            <a:extLst>
              <a:ext uri="{FF2B5EF4-FFF2-40B4-BE49-F238E27FC236}">
                <a16:creationId xmlns:a16="http://schemas.microsoft.com/office/drawing/2014/main" id="{CA8E6E86-88F6-44A7-8A45-01877034465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628743"/>
            <a:ext cx="9853127" cy="5600512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0F946F1F-3783-2934-5E90-29F7E51BCDD0}"/>
              </a:ext>
            </a:extLst>
          </p:cNvPr>
          <p:cNvSpPr txBox="1"/>
          <p:nvPr/>
        </p:nvSpPr>
        <p:spPr>
          <a:xfrm>
            <a:off x="8766110" y="1618860"/>
            <a:ext cx="3425890" cy="403187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Tx/>
              <a:buChar char="-"/>
            </a:pPr>
            <a:r>
              <a:rPr lang="en-US" sz="1600" dirty="0"/>
              <a:t>See that Profit isn’t always correlated with Discount</a:t>
            </a:r>
          </a:p>
          <a:p>
            <a:pPr marL="285750" indent="-285750">
              <a:buFontTx/>
              <a:buChar char="-"/>
            </a:pPr>
            <a:r>
              <a:rPr lang="en-US" sz="1600" dirty="0"/>
              <a:t>Market and Regions with a Discount over 500 and had a Profit over $100,000</a:t>
            </a:r>
          </a:p>
          <a:p>
            <a:pPr marL="742950" lvl="1" indent="-285750">
              <a:buFontTx/>
              <a:buChar char="-"/>
            </a:pPr>
            <a:r>
              <a:rPr lang="en-US" sz="1600" dirty="0"/>
              <a:t>APAC – Oceania</a:t>
            </a:r>
          </a:p>
          <a:p>
            <a:pPr marL="285750" indent="-285750">
              <a:buFontTx/>
              <a:buChar char="-"/>
            </a:pPr>
            <a:r>
              <a:rPr lang="en-US" sz="1600" dirty="0"/>
              <a:t>Market and Regions with a Discount over 500 and had a Profit under $100,000</a:t>
            </a:r>
          </a:p>
          <a:p>
            <a:pPr marL="742950" lvl="1" indent="-285750">
              <a:buFontTx/>
              <a:buChar char="-"/>
            </a:pPr>
            <a:r>
              <a:rPr lang="en-US" sz="1600" dirty="0"/>
              <a:t>AFRICA – Africa</a:t>
            </a:r>
          </a:p>
          <a:p>
            <a:pPr marL="742950" lvl="1" indent="-285750">
              <a:buFontTx/>
              <a:buChar char="-"/>
            </a:pPr>
            <a:r>
              <a:rPr lang="en-US" sz="1600" dirty="0"/>
              <a:t>APAC – Southeast Asia</a:t>
            </a:r>
          </a:p>
          <a:p>
            <a:pPr marL="742950" lvl="1" indent="-285750">
              <a:buFontTx/>
              <a:buChar char="-"/>
            </a:pPr>
            <a:r>
              <a:rPr lang="en-US" sz="1600" dirty="0"/>
              <a:t>EMEA – EMEA</a:t>
            </a:r>
          </a:p>
          <a:p>
            <a:pPr marL="742950" lvl="1" indent="-285750">
              <a:buFontTx/>
              <a:buChar char="-"/>
            </a:pPr>
            <a:r>
              <a:rPr lang="en-US" sz="1600" dirty="0"/>
              <a:t>EU – Central</a:t>
            </a:r>
          </a:p>
          <a:p>
            <a:pPr marL="742950" lvl="1" indent="-285750">
              <a:buFontTx/>
              <a:buChar char="-"/>
            </a:pPr>
            <a:r>
              <a:rPr lang="en-US" sz="1600" dirty="0"/>
              <a:t>LATAM – South</a:t>
            </a:r>
          </a:p>
          <a:p>
            <a:pPr marL="742950" lvl="1" indent="-285750">
              <a:buFontTx/>
              <a:buChar char="-"/>
            </a:pPr>
            <a:r>
              <a:rPr lang="en-US" sz="1600" dirty="0"/>
              <a:t>US – Central</a:t>
            </a:r>
          </a:p>
          <a:p>
            <a:pPr marL="742950" lvl="1" indent="-285750">
              <a:buFontTx/>
              <a:buChar char="-"/>
            </a:pPr>
            <a:endParaRPr lang="en-US" sz="1600" dirty="0"/>
          </a:p>
        </p:txBody>
      </p:sp>
    </p:spTree>
    <p:extLst>
      <p:ext uri="{BB962C8B-B14F-4D97-AF65-F5344CB8AC3E}">
        <p14:creationId xmlns:p14="http://schemas.microsoft.com/office/powerpoint/2010/main" val="9599258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12</TotalTime>
  <Words>133</Words>
  <Application>Microsoft Office PowerPoint</Application>
  <PresentationFormat>Widescreen</PresentationFormat>
  <Paragraphs>22</Paragraphs>
  <Slides>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9" baseType="lpstr">
      <vt:lpstr>Arial</vt:lpstr>
      <vt:lpstr>Calibri</vt:lpstr>
      <vt:lpstr>Calibri Light</vt:lpstr>
      <vt:lpstr>Office Theme</vt:lpstr>
      <vt:lpstr>Data 824 HW7: Orders Workbook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>Chad Huntebrinker</cp:lastModifiedBy>
  <cp:revision>1</cp:revision>
  <dcterms:created xsi:type="dcterms:W3CDTF">2025-10-15T23:36:45Z</dcterms:created>
  <dcterms:modified xsi:type="dcterms:W3CDTF">2025-10-15T23:49:23Z</dcterms:modified>
</cp:coreProperties>
</file>