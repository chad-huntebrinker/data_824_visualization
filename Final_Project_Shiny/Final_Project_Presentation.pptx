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59" r:id="rId5"/>
    <p:sldId id="266" r:id="rId6"/>
    <p:sldId id="260" r:id="rId7"/>
    <p:sldId id="264" r:id="rId8"/>
    <p:sldId id="262" r:id="rId9"/>
    <p:sldId id="261" r:id="rId10"/>
    <p:sldId id="265" r:id="rId11"/>
    <p:sldId id="269" r:id="rId12"/>
    <p:sldId id="280" r:id="rId13"/>
    <p:sldId id="270" r:id="rId14"/>
    <p:sldId id="281" r:id="rId15"/>
    <p:sldId id="271" r:id="rId16"/>
    <p:sldId id="283" r:id="rId17"/>
    <p:sldId id="272" r:id="rId18"/>
    <p:sldId id="282" r:id="rId19"/>
    <p:sldId id="273" r:id="rId20"/>
    <p:sldId id="274" r:id="rId21"/>
    <p:sldId id="275" r:id="rId22"/>
    <p:sldId id="277" r:id="rId23"/>
    <p:sldId id="279" r:id="rId24"/>
    <p:sldId id="276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ortsdataverse/hoop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d-Huntebrinker/DATA_824_Visualiza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fansided.com/2015/12/21/nylon-calculus-101-possessions/#:~:text=Basketball%2Dreference%20is%20the%20closest,further%20errors%20can%20be%20avoided.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Does It Take to Win?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Chad Huntebrinker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345DC7-3D24-2346-DEBA-769094E1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in the NBA?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1EB3A7-2F56-26E9-7F2F-29DFB2DEC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NBA season, all teams have one common goal: win</a:t>
            </a:r>
          </a:p>
          <a:p>
            <a:r>
              <a:rPr lang="en-US" dirty="0"/>
              <a:t>But what does it take to win in the NBA?</a:t>
            </a:r>
          </a:p>
          <a:p>
            <a:r>
              <a:rPr lang="en-US" dirty="0"/>
              <a:t>Are there specific team stats that help or hurt a team?</a:t>
            </a:r>
          </a:p>
          <a:p>
            <a:r>
              <a:rPr lang="en-US" dirty="0"/>
              <a:t>This report will use our created data dashboard to find some common indicators</a:t>
            </a:r>
          </a:p>
        </p:txBody>
      </p:sp>
    </p:spTree>
    <p:extLst>
      <p:ext uri="{BB962C8B-B14F-4D97-AF65-F5344CB8AC3E}">
        <p14:creationId xmlns:p14="http://schemas.microsoft.com/office/powerpoint/2010/main" val="96002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A60E-F563-FD88-DED0-4EE695A1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Find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8F50-CBB4-03DE-BD47-317CEDC8C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take the top 4 and bottom 4 teams in the NBA season last year (2024 – 2025)</a:t>
            </a:r>
          </a:p>
          <a:p>
            <a:r>
              <a:rPr lang="en-US" dirty="0"/>
              <a:t>We’ll compare them directly head-to-head and also compare their stats across the board</a:t>
            </a:r>
          </a:p>
          <a:p>
            <a:r>
              <a:rPr lang="en-US" dirty="0"/>
              <a:t>And we’ll see if the top 4 teams have something in common that the bottom ones don’t</a:t>
            </a:r>
          </a:p>
        </p:txBody>
      </p:sp>
    </p:spTree>
    <p:extLst>
      <p:ext uri="{BB962C8B-B14F-4D97-AF65-F5344CB8AC3E}">
        <p14:creationId xmlns:p14="http://schemas.microsoft.com/office/powerpoint/2010/main" val="284604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 </a:t>
            </a:r>
            <a:r>
              <a:rPr lang="en-US" dirty="0"/>
              <a:t>is the Data?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NBA team-level performance data for the 2024–2025 season</a:t>
            </a:r>
            <a:endParaRPr lang="en-US" dirty="0"/>
          </a:p>
          <a:p>
            <a:pPr lvl="1"/>
            <a:r>
              <a:rPr lang="en-US" dirty="0"/>
              <a:t>The season can be changed in the dashboard but we will be using the 2024-2025 only</a:t>
            </a:r>
            <a:endParaRPr dirty="0"/>
          </a:p>
          <a:p>
            <a:r>
              <a:rPr dirty="0"/>
              <a:t>Includes offensive, defensive, shooting, rebounding, and possession‑based stats</a:t>
            </a:r>
          </a:p>
          <a:p>
            <a:r>
              <a:rPr dirty="0"/>
              <a:t>Allows comparison of team styles, strengths, and weaknesses across key metrics</a:t>
            </a:r>
          </a:p>
          <a:p>
            <a:r>
              <a:rPr dirty="0"/>
              <a:t>Useful for understanding what separates top-performing teams from bottom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Where </a:t>
            </a:r>
            <a:r>
              <a:rPr lang="en-US" dirty="0"/>
              <a:t>Does </a:t>
            </a:r>
            <a:r>
              <a:rPr dirty="0"/>
              <a:t>the Data Come From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Public NBA statistics sourced through </a:t>
            </a:r>
            <a:r>
              <a:rPr dirty="0" err="1"/>
              <a:t>hoopR</a:t>
            </a:r>
            <a:r>
              <a:rPr dirty="0"/>
              <a:t> (R package) API calls</a:t>
            </a:r>
          </a:p>
          <a:p>
            <a:r>
              <a:rPr dirty="0"/>
              <a:t>Data collected from NBA official box scores and advanced stat repositories</a:t>
            </a:r>
          </a:p>
          <a:p>
            <a:r>
              <a:rPr dirty="0"/>
              <a:t>Reliable and commonly used in basketball analytics research</a:t>
            </a:r>
            <a:endParaRPr lang="en-US" dirty="0"/>
          </a:p>
          <a:p>
            <a:r>
              <a:rPr lang="en-US" dirty="0">
                <a:hlinkClick r:id="rId2"/>
              </a:rPr>
              <a:t>https://github.com/sportsdataverse/hoopR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Complexity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dozens of advanced metrics that interact in non‑trivial ways.</a:t>
            </a:r>
          </a:p>
          <a:p>
            <a:r>
              <a:t>Data span the full season and integrate both box score and pace-adjusted stats.</a:t>
            </a:r>
          </a:p>
          <a:p>
            <a:r>
              <a:t>Complexity supports visual exploration, filtering, and multi-dimensional comparison.</a:t>
            </a:r>
          </a:p>
          <a:p>
            <a:r>
              <a:t>Appropriate for interactive dashboards and multivariate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Application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Allows users to select any two teams and compare them across key performance metrics</a:t>
            </a:r>
          </a:p>
          <a:p>
            <a:r>
              <a:rPr dirty="0"/>
              <a:t>Generates radar plots</a:t>
            </a:r>
            <a:r>
              <a:rPr lang="en-US" dirty="0"/>
              <a:t>, box plots, and tables with data</a:t>
            </a:r>
            <a:r>
              <a:rPr dirty="0"/>
              <a:t> for quick</a:t>
            </a:r>
            <a:r>
              <a:rPr lang="en-US" dirty="0"/>
              <a:t>,</a:t>
            </a:r>
            <a:r>
              <a:rPr dirty="0"/>
              <a:t> visual interpretation of multi-dimensional stats</a:t>
            </a:r>
          </a:p>
          <a:p>
            <a:r>
              <a:rPr dirty="0"/>
              <a:t>Users can explore trends, strengths, and weaknesses in an intuitive interface</a:t>
            </a:r>
            <a:endParaRPr lang="en-US" dirty="0"/>
          </a:p>
          <a:p>
            <a:r>
              <a:rPr lang="en-US" dirty="0">
                <a:hlinkClick r:id="rId2"/>
              </a:rPr>
              <a:t>Accessible via the GitHub link here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Dashboard uses consistent color, scale, and labeling for intuitive comparison</a:t>
            </a:r>
          </a:p>
          <a:p>
            <a:r>
              <a:rPr dirty="0"/>
              <a:t>Interactive elements</a:t>
            </a:r>
            <a:r>
              <a:rPr lang="en-US" dirty="0"/>
              <a:t> keep it both engaging and clutter-free</a:t>
            </a:r>
          </a:p>
          <a:p>
            <a:r>
              <a:rPr lang="en-US" dirty="0"/>
              <a:t>Visualizations are both useful and informative to even novice users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Provided by the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Radar plots reveal multi‑metric profiles and differences between teams</a:t>
            </a:r>
          </a:p>
          <a:p>
            <a:r>
              <a:rPr dirty="0"/>
              <a:t>Interactive dashboard supports selecting specific teams for direct comparison</a:t>
            </a:r>
          </a:p>
          <a:p>
            <a:r>
              <a:rPr dirty="0"/>
              <a:t>Tools help users identify patterns such as strong defense vs. high‑pace offense</a:t>
            </a:r>
          </a:p>
          <a:p>
            <a:r>
              <a:rPr dirty="0"/>
              <a:t>Supports deeper interpretation beyond simple win/loss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to Expect When Using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Clear, interactive</a:t>
            </a:r>
            <a:r>
              <a:rPr lang="en-US" dirty="0"/>
              <a:t>,</a:t>
            </a:r>
            <a:r>
              <a:rPr dirty="0"/>
              <a:t> team dashboards</a:t>
            </a:r>
          </a:p>
          <a:p>
            <a:r>
              <a:rPr lang="en-US" dirty="0"/>
              <a:t>V</a:t>
            </a:r>
            <a:r>
              <a:rPr dirty="0"/>
              <a:t>isualization of multi‑metric comparisons</a:t>
            </a:r>
          </a:p>
          <a:p>
            <a:r>
              <a:rPr dirty="0"/>
              <a:t>Ability to switch teams and explore various parts of the dataset</a:t>
            </a:r>
          </a:p>
          <a:p>
            <a:r>
              <a:rPr dirty="0"/>
              <a:t>Flexible tool that works for casual users or deeper analytic exploration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3063-DA43-1E21-7963-B965A50D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and Bottom 4 NBA Teams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9CD46C-A8D5-45DC-D1FE-930A50DF5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4 Teams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21EFBB-9B7A-EDF2-BA69-FB55606F91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Oklahoma City Thunder (68 Wins)</a:t>
            </a:r>
          </a:p>
          <a:p>
            <a:r>
              <a:rPr lang="en-US" sz="2000" dirty="0"/>
              <a:t>Cleveland Cavaliers (64 wins)</a:t>
            </a:r>
          </a:p>
          <a:p>
            <a:r>
              <a:rPr lang="en-US" sz="2000" dirty="0"/>
              <a:t>Boston Celtics (61 wins)</a:t>
            </a:r>
          </a:p>
          <a:p>
            <a:r>
              <a:rPr lang="en-US" sz="2000" dirty="0"/>
              <a:t>Houstin Rockets (52 wins)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9B616F-4F9B-2832-DF34-C3B440F6A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Bottom 4 Teams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B2C9A5-4C14-A57D-1B76-B03FBF5776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Utah Jazz (17 wins)</a:t>
            </a:r>
          </a:p>
          <a:p>
            <a:r>
              <a:rPr lang="en-US" sz="2000" dirty="0"/>
              <a:t>Washington Wizards (18 wins)</a:t>
            </a:r>
          </a:p>
          <a:p>
            <a:r>
              <a:rPr lang="en-US" sz="2000" dirty="0"/>
              <a:t>Charlotte Hornets (19 wins)</a:t>
            </a:r>
          </a:p>
          <a:p>
            <a:r>
              <a:rPr lang="en-US" sz="2000" dirty="0"/>
              <a:t>New Orleans Pelicans (21 wins)</a:t>
            </a:r>
          </a:p>
        </p:txBody>
      </p:sp>
    </p:spTree>
    <p:extLst>
      <p:ext uri="{BB962C8B-B14F-4D97-AF65-F5344CB8AC3E}">
        <p14:creationId xmlns:p14="http://schemas.microsoft.com/office/powerpoint/2010/main" val="355085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B995071-27CA-76F8-CBDA-D3D47FC1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Oklahoma City Thunder vs Utah Jazz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99C9EE9-4C57-2DE5-671D-9BC30ECB9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490" y="1600200"/>
            <a:ext cx="696302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2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488E3D-0B33-E929-0BB6-8D8A284BA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10972"/>
          </a:xfrm>
        </p:spPr>
        <p:txBody>
          <a:bodyPr>
            <a:normAutofit fontScale="90000"/>
          </a:bodyPr>
          <a:lstStyle/>
          <a:p>
            <a:r>
              <a:rPr lang="en-US" dirty="0"/>
              <a:t>OKC (Orange) vs Jazz (Green)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6C144D-2266-5280-5326-19EAF08A8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273050"/>
            <a:ext cx="2834640" cy="585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Quick Stats:</a:t>
            </a:r>
          </a:p>
          <a:p>
            <a:r>
              <a:rPr lang="en-US" sz="2100" dirty="0" err="1"/>
              <a:t>Off_Eff</a:t>
            </a:r>
            <a:endParaRPr lang="en-US" sz="2100" dirty="0"/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117.27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107.83</a:t>
            </a:r>
          </a:p>
          <a:p>
            <a:r>
              <a:rPr lang="en-US" sz="2000" dirty="0"/>
              <a:t>FG_PCT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48.21%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45.61%</a:t>
            </a:r>
          </a:p>
          <a:p>
            <a:r>
              <a:rPr lang="en-US" sz="2100" dirty="0"/>
              <a:t>FG3_PCT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37.36%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35.29%</a:t>
            </a:r>
          </a:p>
          <a:p>
            <a:r>
              <a:rPr lang="en-US" sz="2100" dirty="0"/>
              <a:t>FT_PCT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81.9%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77.46%</a:t>
            </a:r>
          </a:p>
          <a:p>
            <a:r>
              <a:rPr lang="en-US" sz="2100" dirty="0"/>
              <a:t>Turnovers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11.72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17.22</a:t>
            </a:r>
          </a:p>
          <a:p>
            <a:r>
              <a:rPr lang="en-US" sz="2100" dirty="0"/>
              <a:t>Possessions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102.75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Jazz: 103.77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/>
              <a:t>Plus-Minus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OKC: 12.87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Jazz -9.34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8E8D9B-4FCA-DE6F-6436-E0F2E40BB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684022"/>
            <a:ext cx="5221289" cy="5442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59074-16D6-0224-7303-AE1065A4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55" y="1397459"/>
            <a:ext cx="4839177" cy="40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8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0276-1EBE-47CA-9BA5-0B66CC76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Cleveland Cavaliers vs Washington Wizards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FB223-4744-67B1-8270-176148103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591" y="1600200"/>
            <a:ext cx="688081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2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4A41-232B-B66B-16C4-E3E6380D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09A82A-2A77-44AA-D217-D25395B4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10972"/>
          </a:xfrm>
        </p:spPr>
        <p:txBody>
          <a:bodyPr>
            <a:normAutofit fontScale="90000"/>
          </a:bodyPr>
          <a:lstStyle/>
          <a:p>
            <a:r>
              <a:rPr lang="en-US" dirty="0"/>
              <a:t>Cavaliers (Orange) vs Wizards (Green)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519209-B1B3-2C31-01FD-ACDEA5099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273050"/>
            <a:ext cx="2834640" cy="585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Quick Stats:</a:t>
            </a:r>
            <a:endParaRPr lang="en-US" sz="1600" dirty="0"/>
          </a:p>
          <a:p>
            <a:r>
              <a:rPr lang="en-US" sz="2000" dirty="0" err="1"/>
              <a:t>Off_Eff</a:t>
            </a:r>
            <a:endParaRPr lang="en-US" sz="2000" dirty="0"/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119.07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103.9</a:t>
            </a:r>
          </a:p>
          <a:p>
            <a:r>
              <a:rPr lang="en-US" sz="2000" dirty="0"/>
              <a:t>FG_PCT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49.15%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43.91%</a:t>
            </a:r>
          </a:p>
          <a:p>
            <a:r>
              <a:rPr lang="en-US" sz="2000" dirty="0"/>
              <a:t>FG3_PCT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38.46%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33.3%</a:t>
            </a:r>
          </a:p>
          <a:p>
            <a:r>
              <a:rPr lang="en-US" sz="2000" dirty="0"/>
              <a:t>FT_PCT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77.17%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77.13%</a:t>
            </a:r>
          </a:p>
          <a:p>
            <a:r>
              <a:rPr lang="en-US" sz="2000" dirty="0"/>
              <a:t>Turnovers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13.2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15.56</a:t>
            </a:r>
          </a:p>
          <a:p>
            <a:r>
              <a:rPr lang="en-US" sz="2000" dirty="0"/>
              <a:t>Possessions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102.41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103.95</a:t>
            </a:r>
          </a:p>
          <a:p>
            <a:r>
              <a:rPr lang="en-US" sz="2100" dirty="0"/>
              <a:t>Plus-Minus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Cavaliers: 9.54</a:t>
            </a:r>
            <a:endParaRPr lang="en-US" sz="1600" dirty="0">
              <a:solidFill>
                <a:srgbClr val="00B050"/>
              </a:solidFill>
            </a:endParaRP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Wizards: -12.44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2E8371-8507-B0A8-20F2-C11ED0791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684022"/>
            <a:ext cx="5221289" cy="5442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54003-5526-20DA-1AA4-28E64AAE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9" y="1438172"/>
            <a:ext cx="4724770" cy="393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86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EF64-6B11-4345-DAA8-DDAF046F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Boston Celtics vs Charlotte Hornets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0EAB0F-EE29-D5D6-D6E7-4964BDAC1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850" y="1600200"/>
            <a:ext cx="67602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6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EB17-150F-285A-DE38-5E3B8E10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FCA43A-AFC8-EBAE-9CA9-3A1E35BD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10972"/>
          </a:xfrm>
        </p:spPr>
        <p:txBody>
          <a:bodyPr>
            <a:normAutofit fontScale="90000"/>
          </a:bodyPr>
          <a:lstStyle/>
          <a:p>
            <a:r>
              <a:rPr lang="en-US" dirty="0"/>
              <a:t>Celtics (Orange) vs Hornets (Green)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E7D790-FCDD-9D3A-2B0C-C457DB06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273050"/>
            <a:ext cx="2834640" cy="585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Quick Stats:</a:t>
            </a:r>
            <a:endParaRPr lang="en-US" sz="1600" dirty="0"/>
          </a:p>
          <a:p>
            <a:r>
              <a:rPr lang="en-US" sz="2000" dirty="0" err="1"/>
              <a:t>Off_Eff</a:t>
            </a:r>
            <a:endParaRPr lang="en-US" sz="2000" dirty="0"/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117.55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103.97</a:t>
            </a:r>
          </a:p>
          <a:p>
            <a:r>
              <a:rPr lang="en-US" sz="2000" dirty="0"/>
              <a:t>FG_PCT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46.31%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43.1%</a:t>
            </a:r>
          </a:p>
          <a:p>
            <a:r>
              <a:rPr lang="en-US" sz="2000" dirty="0"/>
              <a:t>FG3_PCT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36.91%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33.72%</a:t>
            </a:r>
          </a:p>
          <a:p>
            <a:r>
              <a:rPr lang="en-US" sz="2000" dirty="0"/>
              <a:t>FT_PCT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80.07%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77.93%</a:t>
            </a:r>
          </a:p>
          <a:p>
            <a:r>
              <a:rPr lang="en-US" sz="2000" dirty="0"/>
              <a:t>Turnovers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11.87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15.5</a:t>
            </a:r>
          </a:p>
          <a:p>
            <a:r>
              <a:rPr lang="en-US" sz="2000" dirty="0"/>
              <a:t>Possessions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98.91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101.09</a:t>
            </a:r>
            <a:endParaRPr lang="en-US" sz="2000" dirty="0"/>
          </a:p>
          <a:p>
            <a:r>
              <a:rPr lang="en-US" sz="2100" dirty="0"/>
              <a:t>Plus-Minus</a:t>
            </a:r>
            <a:endParaRPr lang="en-US" sz="21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Celtics: 9.11</a:t>
            </a:r>
            <a:endParaRPr lang="en-US" sz="1600" dirty="0">
              <a:solidFill>
                <a:srgbClr val="00B050"/>
              </a:solidFill>
            </a:endParaRP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Hornets: -9.11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BA6C8E-10AB-662E-1584-3F1B95C4C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684022"/>
            <a:ext cx="5221289" cy="5442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6F5E3-9692-B381-3E3A-4118BA246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92" y="1412748"/>
            <a:ext cx="4840103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2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886E-9140-663C-A1A7-99E49C29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Houstin Rockets vs New Orleans Pelicans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77A9B5-CD8A-0CB1-345C-7E9544FCF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469" y="1600200"/>
            <a:ext cx="687506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69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AC40-8B28-C8A2-841C-61000F5C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39DF34-D262-5BA7-1A50-8E62EB20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10972"/>
          </a:xfrm>
        </p:spPr>
        <p:txBody>
          <a:bodyPr>
            <a:normAutofit fontScale="90000"/>
          </a:bodyPr>
          <a:lstStyle/>
          <a:p>
            <a:r>
              <a:rPr lang="en-US" dirty="0"/>
              <a:t>Rockets (Orange) vs Pelicans (Green)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E424CB-DCA8-2E9E-0F07-A8DEEC58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273050"/>
            <a:ext cx="2834640" cy="585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Quick Stats:</a:t>
            </a:r>
            <a:endParaRPr lang="en-US" sz="1600" dirty="0"/>
          </a:p>
          <a:p>
            <a:r>
              <a:rPr lang="en-US" sz="2000" dirty="0" err="1"/>
              <a:t>Off_Eff</a:t>
            </a:r>
            <a:endParaRPr lang="en-US" sz="2000" dirty="0"/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107.63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111.41</a:t>
            </a:r>
          </a:p>
          <a:p>
            <a:r>
              <a:rPr lang="en-US" sz="2000" dirty="0"/>
              <a:t>FG_PCT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45.25%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45.51%</a:t>
            </a:r>
          </a:p>
          <a:p>
            <a:r>
              <a:rPr lang="en-US" sz="2000" dirty="0"/>
              <a:t>FG3_PCT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34.49%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35.25%</a:t>
            </a:r>
          </a:p>
          <a:p>
            <a:r>
              <a:rPr lang="en-US" sz="2000" dirty="0"/>
              <a:t>FT_PCT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75.17%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74.03%</a:t>
            </a:r>
          </a:p>
          <a:p>
            <a:r>
              <a:rPr lang="en-US" sz="2000" dirty="0"/>
              <a:t>Turnovers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14.65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13.89</a:t>
            </a:r>
          </a:p>
          <a:p>
            <a:r>
              <a:rPr lang="en-US" sz="2000" dirty="0"/>
              <a:t>Possessions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102.04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102.59</a:t>
            </a:r>
          </a:p>
          <a:p>
            <a:r>
              <a:rPr lang="en-US" sz="2100" dirty="0"/>
              <a:t>Plus-Minus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Rockets: 4.51</a:t>
            </a:r>
            <a:endParaRPr lang="en-US" sz="1600" dirty="0">
              <a:solidFill>
                <a:srgbClr val="00B050"/>
              </a:solidFill>
            </a:endParaRP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Pelicans: -9.43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635671-CFDA-C32D-1F93-44318E7DB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684022"/>
            <a:ext cx="5221289" cy="5442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03A96-434B-8F0B-20A0-9A1BE975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56" y="1405793"/>
            <a:ext cx="4582175" cy="399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43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B4E9DD-A0CA-A16D-9FBF-00A0CDC7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Winning Teams Do?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AE9F8-66B4-2B84-5B3D-1622B71D8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Winning teams are more efficient on offense</a:t>
            </a:r>
          </a:p>
          <a:p>
            <a:pPr lvl="1"/>
            <a:r>
              <a:rPr lang="en-US" dirty="0"/>
              <a:t>Top 4 average offensive efficiency: 115.38</a:t>
            </a:r>
          </a:p>
          <a:p>
            <a:pPr lvl="1"/>
            <a:r>
              <a:rPr lang="en-US" dirty="0"/>
              <a:t>Bottom 4 average offensive efficiency: 106.78</a:t>
            </a:r>
          </a:p>
          <a:p>
            <a:pPr lvl="2"/>
            <a:r>
              <a:rPr lang="en-US" dirty="0"/>
              <a:t>Offensive efficiency is how many points are scored per 100 possessions</a:t>
            </a:r>
          </a:p>
          <a:p>
            <a:r>
              <a:rPr lang="en-US" dirty="0"/>
              <a:t>So winning teams take better shots and are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188187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E598-DD8C-8ECE-CCD5-FFC96430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Winning Teams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BCC23-0873-18D2-C726-6BAABC78C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Winning teams have a higher shot percentage:</a:t>
            </a:r>
          </a:p>
          <a:p>
            <a:pPr lvl="1"/>
            <a:r>
              <a:rPr lang="en-US" dirty="0"/>
              <a:t>Top 4 NBA Teams:</a:t>
            </a:r>
          </a:p>
          <a:p>
            <a:pPr lvl="2"/>
            <a:r>
              <a:rPr lang="en-US" dirty="0"/>
              <a:t>Average FG Percentage: 47.23%</a:t>
            </a:r>
          </a:p>
          <a:p>
            <a:pPr lvl="2"/>
            <a:r>
              <a:rPr lang="en-US" dirty="0"/>
              <a:t>Average 3FG Percentage: 36.81%</a:t>
            </a:r>
          </a:p>
          <a:p>
            <a:pPr lvl="2"/>
            <a:r>
              <a:rPr lang="en-US" dirty="0"/>
              <a:t>Average FT Percentage: 78.58%</a:t>
            </a:r>
          </a:p>
          <a:p>
            <a:pPr lvl="1"/>
            <a:r>
              <a:rPr lang="en-US" dirty="0"/>
              <a:t>Bottom 4 NBA Teams:</a:t>
            </a:r>
          </a:p>
          <a:p>
            <a:pPr lvl="2"/>
            <a:r>
              <a:rPr lang="en-US" dirty="0"/>
              <a:t>Average FG Percentage: 44.53%</a:t>
            </a:r>
          </a:p>
          <a:p>
            <a:pPr lvl="2"/>
            <a:r>
              <a:rPr lang="en-US" dirty="0"/>
              <a:t>Average 3FG Percentage: 34.39%</a:t>
            </a:r>
          </a:p>
          <a:p>
            <a:pPr lvl="2"/>
            <a:r>
              <a:rPr lang="en-US" dirty="0"/>
              <a:t>Average FT Percentage: 76.64%</a:t>
            </a:r>
          </a:p>
        </p:txBody>
      </p:sp>
    </p:spTree>
    <p:extLst>
      <p:ext uri="{BB962C8B-B14F-4D97-AF65-F5344CB8AC3E}">
        <p14:creationId xmlns:p14="http://schemas.microsoft.com/office/powerpoint/2010/main" val="3489845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C5C2-9D5A-6DFA-A2E6-4102AA48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Winning Teams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EEF59-8D19-7CA6-989B-D4BEC652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isn’t due to pace or teams playing with a faster offense</a:t>
            </a:r>
          </a:p>
          <a:p>
            <a:pPr lvl="1"/>
            <a:r>
              <a:rPr lang="en-US" dirty="0"/>
              <a:t>Top 4 average possessions: 101.53</a:t>
            </a:r>
          </a:p>
          <a:p>
            <a:pPr lvl="1"/>
            <a:r>
              <a:rPr lang="en-US" dirty="0"/>
              <a:t>Bottom 4 average possessions: 102.85</a:t>
            </a:r>
          </a:p>
          <a:p>
            <a:r>
              <a:rPr lang="en-US" dirty="0"/>
              <a:t>This is the average estimated possessions per team per game</a:t>
            </a:r>
          </a:p>
          <a:p>
            <a:pPr lvl="1"/>
            <a:r>
              <a:rPr lang="en-US" dirty="0"/>
              <a:t>Using the following formula (</a:t>
            </a:r>
            <a:r>
              <a:rPr lang="en-US" dirty="0">
                <a:hlinkClick r:id="rId2"/>
              </a:rPr>
              <a:t>vouched by ESPN and stats.NBA.com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(FGA + 0.44*FTA – ORB + TOV)</a:t>
            </a:r>
          </a:p>
          <a:p>
            <a:pPr lvl="1"/>
            <a:r>
              <a:rPr lang="en-US" dirty="0"/>
              <a:t>We don’t divide by 2 in our formula because we already have team level possessions</a:t>
            </a:r>
          </a:p>
          <a:p>
            <a:r>
              <a:rPr lang="en-US" dirty="0"/>
              <a:t>Meaning that winning teams are just more efficient offensively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183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B89F-AF75-D8E4-5152-D027B7AF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Winning Teams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4E68-9233-AF4A-9E0D-9C4B3F36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winning teams do play tough defense</a:t>
            </a:r>
          </a:p>
          <a:p>
            <a:pPr lvl="1"/>
            <a:r>
              <a:rPr lang="en-US" dirty="0"/>
              <a:t>Top 4 plus-minus average: 9.01</a:t>
            </a:r>
          </a:p>
          <a:p>
            <a:pPr lvl="1"/>
            <a:r>
              <a:rPr lang="en-US" dirty="0"/>
              <a:t>Bottom 4 plus-minus average: -10.08</a:t>
            </a:r>
          </a:p>
          <a:p>
            <a:pPr lvl="2"/>
            <a:r>
              <a:rPr lang="en-US" dirty="0"/>
              <a:t>Plus-minus is just Points Scored – Points Allowed</a:t>
            </a:r>
          </a:p>
          <a:p>
            <a:r>
              <a:rPr lang="en-US" dirty="0"/>
              <a:t>So it requires both effective offense and defense</a:t>
            </a:r>
          </a:p>
        </p:txBody>
      </p:sp>
    </p:spTree>
    <p:extLst>
      <p:ext uri="{BB962C8B-B14F-4D97-AF65-F5344CB8AC3E}">
        <p14:creationId xmlns:p14="http://schemas.microsoft.com/office/powerpoint/2010/main" val="1671032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6B05-70AE-37A4-E666-28CC1939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Winning Teams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51C0E-00BF-6695-9EA1-42291C61F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see this in the number of turnovers too:</a:t>
            </a:r>
          </a:p>
          <a:p>
            <a:pPr lvl="1"/>
            <a:r>
              <a:rPr lang="en-US" dirty="0"/>
              <a:t>Top 4 average number of turnovers: 12.86</a:t>
            </a:r>
          </a:p>
          <a:p>
            <a:pPr lvl="1"/>
            <a:r>
              <a:rPr lang="en-US" dirty="0"/>
              <a:t>Bottom 4 average number of turnovers: 15.54</a:t>
            </a:r>
          </a:p>
          <a:p>
            <a:r>
              <a:rPr lang="en-US" dirty="0"/>
              <a:t>That’s around 3 less possessions due to losing the ball</a:t>
            </a:r>
          </a:p>
          <a:p>
            <a:r>
              <a:rPr lang="en-US" dirty="0"/>
              <a:t>Teams that win take better care of the ball</a:t>
            </a:r>
          </a:p>
          <a:p>
            <a:r>
              <a:rPr lang="en-US" dirty="0"/>
              <a:t>Teams that lose the ball to better defenses will lose the game</a:t>
            </a:r>
          </a:p>
        </p:txBody>
      </p:sp>
    </p:spTree>
    <p:extLst>
      <p:ext uri="{BB962C8B-B14F-4D97-AF65-F5344CB8AC3E}">
        <p14:creationId xmlns:p14="http://schemas.microsoft.com/office/powerpoint/2010/main" val="1088144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F215-9D5E-343C-6774-F84EDB46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45FC-2695-3F70-1201-2653BCFB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Winning teams in the NBA:</a:t>
            </a:r>
          </a:p>
          <a:p>
            <a:pPr lvl="1"/>
            <a:r>
              <a:rPr lang="en-US" dirty="0"/>
              <a:t>Are more offensively efficient with scoring points</a:t>
            </a:r>
          </a:p>
          <a:p>
            <a:pPr lvl="1"/>
            <a:r>
              <a:rPr lang="en-US" dirty="0"/>
              <a:t>Are more accurate making shots</a:t>
            </a:r>
          </a:p>
          <a:p>
            <a:pPr lvl="1"/>
            <a:r>
              <a:rPr lang="en-US" dirty="0"/>
              <a:t>Play better defense</a:t>
            </a:r>
          </a:p>
          <a:p>
            <a:pPr lvl="1"/>
            <a:r>
              <a:rPr lang="en-US" dirty="0"/>
              <a:t>Have less turnovers</a:t>
            </a:r>
          </a:p>
        </p:txBody>
      </p:sp>
    </p:spTree>
    <p:extLst>
      <p:ext uri="{BB962C8B-B14F-4D97-AF65-F5344CB8AC3E}">
        <p14:creationId xmlns:p14="http://schemas.microsoft.com/office/powerpoint/2010/main" val="1349137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1182</Words>
  <Application>Microsoft Office PowerPoint</Application>
  <PresentationFormat>On-screen Show (4:3)</PresentationFormat>
  <Paragraphs>197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What Does It Take to Win?</vt:lpstr>
      <vt:lpstr>How to Win in the NBA?</vt:lpstr>
      <vt:lpstr>How Can We Find This?</vt:lpstr>
      <vt:lpstr>What is the Data?</vt:lpstr>
      <vt:lpstr>Where Does the Data Come From?</vt:lpstr>
      <vt:lpstr>Dataset Complexity &amp; Justification</vt:lpstr>
      <vt:lpstr>What the Application Does</vt:lpstr>
      <vt:lpstr>Visualization Principles</vt:lpstr>
      <vt:lpstr>Insight Provided by the Tool</vt:lpstr>
      <vt:lpstr>What to Expect When Using the Application</vt:lpstr>
      <vt:lpstr>Top and Bottom 4 NBA Teams</vt:lpstr>
      <vt:lpstr>Oklahoma City Thunder vs Utah Jazz</vt:lpstr>
      <vt:lpstr>OKC (Orange) vs Jazz (Green)</vt:lpstr>
      <vt:lpstr>Cleveland Cavaliers vs Washington Wizards</vt:lpstr>
      <vt:lpstr>Cavaliers (Orange) vs Wizards (Green)</vt:lpstr>
      <vt:lpstr>Boston Celtics vs Charlotte Hornets</vt:lpstr>
      <vt:lpstr>Celtics (Orange) vs Hornets (Green)</vt:lpstr>
      <vt:lpstr>Houstin Rockets vs New Orleans Pelicans</vt:lpstr>
      <vt:lpstr>Rockets (Orange) vs Pelicans (Green)</vt:lpstr>
      <vt:lpstr>What Do Winning Teams Do?</vt:lpstr>
      <vt:lpstr>What Do Winning Teams Do?</vt:lpstr>
      <vt:lpstr>What Do Winning Teams Do?</vt:lpstr>
      <vt:lpstr>What Do Winning Teams Do?</vt:lpstr>
      <vt:lpstr>What Do Winning Teams Do?</vt:lpstr>
      <vt:lpstr>In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Chad Huntebrinker</dc:creator>
  <cp:keywords/>
  <dc:description>generated using python-pptx</dc:description>
  <cp:lastModifiedBy>Chad Huntebrinker</cp:lastModifiedBy>
  <cp:revision>21</cp:revision>
  <dcterms:created xsi:type="dcterms:W3CDTF">2013-01-27T09:14:16Z</dcterms:created>
  <dcterms:modified xsi:type="dcterms:W3CDTF">2025-12-04T23:42:10Z</dcterms:modified>
  <cp:category/>
</cp:coreProperties>
</file>